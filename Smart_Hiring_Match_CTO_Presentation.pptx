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15400" y="-182880"/>
            <a:ext cx="3840480" cy="7223760"/>
          </a:xfrm>
          <a:prstGeom prst="rect">
            <a:avLst/>
          </a:prstGeom>
          <a:solidFill>
            <a:srgbClr val="0E1D3E"/>
          </a:solidFill>
          <a:ln>
            <a:solidFill>
              <a:srgbClr val="0E1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4080" y="502920"/>
            <a:ext cx="1097280" cy="1097280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61320" y="1280160"/>
            <a:ext cx="1097280" cy="1097280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5440" y="2057400"/>
            <a:ext cx="2423160" cy="73152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680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F"/>
                </a:solidFill>
                <a:latin typeface="Aptos"/>
              </a:rPr>
              <a:t>SMART HIRING
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7CAEF"/>
                </a:solidFill>
                <a:latin typeface="Aptos"/>
              </a:rPr>
              <a:t>AI-powered candidate screening &amp; skill-based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67328"/>
            <a:ext cx="7040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From resume overload → to explainable, structured hiring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074920"/>
            <a:ext cx="2788920" cy="47548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184648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CTO / PRODUCT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897880"/>
            <a:ext cx="6583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1A6CD"/>
                </a:solidFill>
                <a:latin typeface="Aptos"/>
              </a:rPr>
              <a:t>Mini Project  •  Product Vision  •  Architecture  • 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758C"/>
                </a:solidFill>
                <a:latin typeface="Aptos"/>
              </a:rPr>
              <a:t>SMART HIRING MATCH  •  CTO / PRODUCT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BFF"/>
                </a:solidFill>
                <a:latin typeface="Aptos"/>
              </a:rPr>
              <a:t>01  •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228"/>
                </a:solidFill>
                <a:latin typeface="Aptos"/>
              </a:rPr>
              <a:t>The hiring problem: too many resumes, too little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58C"/>
                </a:solidFill>
                <a:latin typeface="Aptos"/>
              </a:rPr>
              <a:t>Recruiters spend time processing resumes instead of making high-value hiring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6537960" cy="36118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1228"/>
                </a:solidFill>
                <a:latin typeface="Aptos"/>
              </a:rPr>
              <a:t>Where the bottleneck happens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62072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20"/>
            <a:ext cx="56418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32D41"/>
                </a:solidFill>
                <a:latin typeface="Aptos"/>
              </a:rPr>
              <a:t>Manual resume reading is slow, repetitive and difficult to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55848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82696"/>
            <a:ext cx="56418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32D41"/>
                </a:solidFill>
                <a:latin typeface="Aptos"/>
              </a:rPr>
              <a:t>Candidate skills are not compared against role requirements in a consistent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9624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776472"/>
            <a:ext cx="56418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32D41"/>
                </a:solidFill>
                <a:latin typeface="Aptos"/>
              </a:rPr>
              <a:t>Skill gaps may surface only after interviews — when time has already been spent.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43400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270248"/>
            <a:ext cx="56418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32D41"/>
                </a:solidFill>
                <a:latin typeface="Aptos"/>
              </a:rPr>
              <a:t>Shortlisting can vary by reviewer, creating inconsistency and avoidable bias.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37176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764024"/>
            <a:ext cx="5641848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232D41"/>
                </a:solidFill>
                <a:latin typeface="Aptos"/>
              </a:rPr>
              <a:t>As application volume increases, the manual process becomes the constraint.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965960"/>
            <a:ext cx="4023360" cy="3611880"/>
          </a:xfrm>
          <a:prstGeom prst="round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26771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Business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788920"/>
            <a:ext cx="3337560" cy="1024128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2788920"/>
            <a:ext cx="54864" cy="1024128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95351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228"/>
                </a:solidFill>
                <a:latin typeface="Aptos"/>
              </a:rPr>
              <a:t>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3558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58C"/>
                </a:solidFill>
                <a:latin typeface="Aptos"/>
              </a:rPr>
              <a:t>hours lost to repetitive screening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977639"/>
            <a:ext cx="3337560" cy="1024128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8120" y="3977639"/>
            <a:ext cx="54864" cy="102412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4142231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228"/>
                </a:solidFill>
                <a:latin typeface="Aptos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454456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58C"/>
                </a:solidFill>
                <a:latin typeface="Aptos"/>
              </a:rPr>
              <a:t>inconsistent shortlists across reviewers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5230368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5C6E4"/>
                </a:solidFill>
                <a:latin typeface="Aptos"/>
              </a:rPr>
              <a:t>The opportunity: standardize the first screening layer without replacing human judgment.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758C"/>
                </a:solidFill>
                <a:latin typeface="Aptos"/>
              </a:rPr>
              <a:t>SMART HIRING MATCH  •  CTO / PRODUCT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BFF"/>
                </a:solidFill>
                <a:latin typeface="Aptos"/>
              </a:rPr>
              <a:t>02  •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228"/>
                </a:solidFill>
                <a:latin typeface="Aptos"/>
              </a:rPr>
              <a:t>What Smart Hiring Match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9758C"/>
                </a:solidFill>
                <a:latin typeface="Aptos"/>
              </a:rPr>
              <a:t>A decision-support layer that converts unstructured resumes into a transparent candidate ranking.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783080" cy="24688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359152"/>
            <a:ext cx="475488" cy="47548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59736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A1228"/>
                </a:solidFill>
                <a:latin typeface="Aptos"/>
              </a:rPr>
              <a:t>JOB + RESUMES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529584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58C"/>
                </a:solidFill>
                <a:latin typeface="Aptos"/>
              </a:rPr>
              <a:t>Upload role requirements and candidate resumes.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0358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5B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83080" cy="24688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40" y="2359152"/>
            <a:ext cx="475488" cy="47548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459736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0632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A1228"/>
                </a:solidFill>
                <a:latin typeface="Aptos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3529584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58C"/>
                </a:solidFill>
                <a:latin typeface="Aptos"/>
              </a:rPr>
              <a:t>Convert unstructured resume text into structured profile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358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5B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148840"/>
            <a:ext cx="1783080" cy="24688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49240" y="2359152"/>
            <a:ext cx="475488" cy="47548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459736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0632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A1228"/>
                </a:solidFill>
                <a:latin typeface="Aptos"/>
              </a:rP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529584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58C"/>
                </a:solidFill>
                <a:latin typeface="Aptos"/>
              </a:rPr>
              <a:t>Compare candidate capabilities with role requirements.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358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5B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148840"/>
            <a:ext cx="1783080" cy="24688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35240" y="2359152"/>
            <a:ext cx="475488" cy="47548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2459736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632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A1228"/>
                </a:solidFill>
                <a:latin typeface="Aptos"/>
              </a:rPr>
              <a:t>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3529584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58C"/>
                </a:solidFill>
                <a:latin typeface="Aptos"/>
              </a:rPr>
              <a:t>Calculate fit score and rank candidates consistently.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3580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5BFF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148840"/>
            <a:ext cx="1783080" cy="24688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21240" y="2359152"/>
            <a:ext cx="475488" cy="47548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459736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0632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A1228"/>
                </a:solidFill>
                <a:latin typeface="Aptos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0384" y="3529584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758C"/>
                </a:solidFill>
                <a:latin typeface="Aptos"/>
              </a:rPr>
              <a:t>Generate a shortlist with evidence and skill gaps.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074920"/>
            <a:ext cx="10744200" cy="777240"/>
          </a:xfrm>
          <a:prstGeom prst="round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2669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CDFF"/>
                </a:solidFill>
                <a:latin typeface="Aptos"/>
              </a:rPr>
              <a:t>Design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02936"/>
            <a:ext cx="8732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F"/>
                </a:solidFill>
                <a:latin typeface="Aptos"/>
              </a:rPr>
              <a:t>Automate the repetitive work — keep the final hiring decision with people.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758C"/>
                </a:solidFill>
                <a:latin typeface="Aptos"/>
              </a:rPr>
              <a:t>SMART HIRING MATCH  •  CTO / PRODUCT 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BFF"/>
                </a:solidFill>
                <a:latin typeface="Aptos"/>
              </a:rPr>
              <a:t>03  • 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228"/>
                </a:solidFill>
                <a:latin typeface="Aptos"/>
              </a:rPr>
              <a:t>From manual screening to measurable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10881360" cy="566928"/>
          </a:xfrm>
          <a:prstGeom prst="round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7335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F"/>
                </a:solidFill>
                <a:latin typeface="Aptos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7792" y="1673352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F"/>
                </a:solidFill>
                <a:latin typeface="Aptos"/>
              </a:rPr>
              <a:t>Today: Manual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4848" y="1673352"/>
            <a:ext cx="4206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F"/>
                </a:solidFill>
                <a:latin typeface="Aptos"/>
              </a:rPr>
              <a:t>With Smart Hiring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75688"/>
            <a:ext cx="10881360" cy="658368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5856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1228"/>
                </a:solidFill>
                <a:latin typeface="Aptos"/>
              </a:rPr>
              <a:t>Screening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221992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58C"/>
                </a:solidFill>
                <a:latin typeface="Aptos"/>
              </a:rPr>
              <a:t>Manual, slow resume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221992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2D41"/>
                </a:solidFill>
                <a:latin typeface="Aptos"/>
              </a:rPr>
              <a:t>Automated profile extraction in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52928"/>
            <a:ext cx="10881360" cy="658368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03580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1228"/>
                </a:solidFill>
                <a:latin typeface="Aptos"/>
              </a:rPr>
              <a:t>Shortlist 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999232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58C"/>
                </a:solidFill>
                <a:latin typeface="Aptos"/>
              </a:rPr>
              <a:t>Reviewer-dependent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999232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2D41"/>
                </a:solidFill>
                <a:latin typeface="Aptos"/>
              </a:rPr>
              <a:t>Objective, percentage-based match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30168"/>
            <a:ext cx="10881360" cy="658368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81304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1228"/>
                </a:solidFill>
                <a:latin typeface="Aptos"/>
              </a:rPr>
              <a:t>Skill-gap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3776472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58C"/>
                </a:solidFill>
                <a:latin typeface="Aptos"/>
              </a:rPr>
              <a:t>Often found during interviews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776472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2D41"/>
                </a:solidFill>
                <a:latin typeface="Aptos"/>
              </a:rPr>
              <a:t>Visible before scheduling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07408"/>
            <a:ext cx="10881360" cy="658368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59028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1228"/>
                </a:solidFill>
                <a:latin typeface="Aptos"/>
              </a:rP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4553712"/>
            <a:ext cx="3611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58C"/>
                </a:solidFill>
                <a:latin typeface="Aptos"/>
              </a:rPr>
              <a:t>No standardized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4553712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2D41"/>
                </a:solidFill>
                <a:latin typeface="Aptos"/>
              </a:rPr>
              <a:t>Exportable ranked report (CSV / TXT)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440680"/>
            <a:ext cx="10881360" cy="658368"/>
          </a:xfrm>
          <a:prstGeom prst="roundRect">
            <a:avLst/>
          </a:prstGeom>
          <a:solidFill>
            <a:srgbClr val="E7EEFF"/>
          </a:solidFill>
          <a:ln>
            <a:solidFill>
              <a:srgbClr val="E7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63270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5BFF"/>
                </a:solidFill>
                <a:latin typeface="Aptos"/>
              </a:rPr>
              <a:t>CTO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53212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1228"/>
                </a:solidFill>
                <a:latin typeface="Aptos"/>
              </a:rPr>
              <a:t>The product is not “AI decides who to hire.” It makes the screening evidence faster, more consistent and easier to audit.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758C"/>
                </a:solidFill>
                <a:latin typeface="Aptos"/>
              </a:rPr>
              <a:t>SMART HIRING MATCH  •  CTO / PRODUCT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BFF"/>
                </a:solidFill>
                <a:latin typeface="Aptos"/>
              </a:rPr>
              <a:t>04  •  BUILD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228"/>
                </a:solidFill>
                <a:latin typeface="Aptos"/>
              </a:rPr>
              <a:t>Current product status: a working core with a clear path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3401568" cy="42976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401568" cy="73152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10512"/>
            <a:ext cx="2651760" cy="292608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1865376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1228"/>
                </a:solidFill>
                <a:latin typeface="Aptos"/>
              </a:rPr>
              <a:t>COMPLETED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468880"/>
            <a:ext cx="64008" cy="64008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Resume &amp; job-description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090672"/>
            <a:ext cx="64008" cy="64008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Skill extraction &amp; parsing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712464"/>
            <a:ext cx="64008" cy="64008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Matching and ranking algorithm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334256"/>
            <a:ext cx="64008" cy="64008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61104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CSV / TXT report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508760"/>
            <a:ext cx="3401568" cy="42976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61688" y="1508760"/>
            <a:ext cx="3401568" cy="73152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810512"/>
            <a:ext cx="2651760" cy="292608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45736" y="1865376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1228"/>
                </a:solidFill>
                <a:latin typeface="Aptos"/>
              </a:rPr>
              <a:t>IN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7" y="2468880"/>
            <a:ext cx="64008" cy="64008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599" y="2395728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Handling diverse resume layouts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6007" y="3090672"/>
            <a:ext cx="64008" cy="64008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599" y="3017520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Expanding master skill taxonomy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6007" y="3712464"/>
            <a:ext cx="64008" cy="64008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3639312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Improving edge-case error handling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6007" y="4334256"/>
            <a:ext cx="64008" cy="64008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4261104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Initial recruiter-facing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1508760"/>
            <a:ext cx="3401568" cy="4297680"/>
          </a:xfrm>
          <a:prstGeom prst="roundRect">
            <a:avLst/>
          </a:prstGeom>
          <a:solidFill>
            <a:srgbClr val="EFF4FC"/>
          </a:solidFill>
          <a:ln>
            <a:solidFill>
              <a:srgbClr val="EF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5008" y="1508760"/>
            <a:ext cx="3401568" cy="73152"/>
          </a:xfrm>
          <a:prstGeom prst="roundRect">
            <a:avLst/>
          </a:prstGeom>
          <a:solidFill>
            <a:srgbClr val="E05252"/>
          </a:solidFill>
          <a:ln>
            <a:solidFill>
              <a:srgbClr val="E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1810512"/>
            <a:ext cx="2651760" cy="292608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1865376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1228"/>
                </a:solidFill>
                <a:latin typeface="Aptos"/>
              </a:rPr>
              <a:t>CURRENT GAPS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328" y="2468880"/>
            <a:ext cx="64008" cy="64008"/>
          </a:xfrm>
          <a:prstGeom prst="roundRect">
            <a:avLst/>
          </a:prstGeom>
          <a:solidFill>
            <a:srgbClr val="E05252"/>
          </a:solidFill>
          <a:ln>
            <a:solidFill>
              <a:srgbClr val="E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395728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Limited to text-based resumes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9328" y="3090672"/>
            <a:ext cx="64008" cy="64008"/>
          </a:xfrm>
          <a:prstGeom prst="roundRect">
            <a:avLst/>
          </a:prstGeom>
          <a:solidFill>
            <a:srgbClr val="E05252"/>
          </a:solidFill>
          <a:ln>
            <a:solidFill>
              <a:srgbClr val="E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3017520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No semantic / synonym matching yet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9328" y="3712464"/>
            <a:ext cx="64008" cy="64008"/>
          </a:xfrm>
          <a:prstGeom prst="roundRect">
            <a:avLst/>
          </a:prstGeom>
          <a:solidFill>
            <a:srgbClr val="E05252"/>
          </a:solidFill>
          <a:ln>
            <a:solidFill>
              <a:srgbClr val="E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639312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No live ATS / HRMS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9328" y="4334256"/>
            <a:ext cx="64008" cy="64008"/>
          </a:xfrm>
          <a:prstGeom prst="roundRect">
            <a:avLst/>
          </a:prstGeom>
          <a:solidFill>
            <a:srgbClr val="E05252"/>
          </a:solidFill>
          <a:ln>
            <a:solidFill>
              <a:srgbClr val="E0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4261104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D41"/>
                </a:solidFill>
                <a:latin typeface="Aptos"/>
              </a:rPr>
              <a:t>No culture or experience 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03504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BFF"/>
                </a:solidFill>
                <a:latin typeface="Aptos"/>
              </a:rPr>
              <a:t>Positioning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596188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A1228"/>
                </a:solidFill>
                <a:latin typeface="Aptos"/>
              </a:rPr>
              <a:t>A focused skill-matching MVP — deliberately designed so intelligence, integrations and scale can be added without changing the core workflow.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758C"/>
                </a:solidFill>
                <a:latin typeface="Aptos"/>
              </a:rPr>
              <a:t>SMART HIRING MATCH  •  CTO / PRODUCT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5BFF"/>
                </a:solidFill>
                <a:latin typeface="Aptos"/>
              </a:rPr>
              <a:t>05  •  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228"/>
                </a:solidFill>
                <a:latin typeface="Aptos"/>
              </a:rPr>
              <a:t>Roadmap: evolve from matching engine to hiring intelligence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2487168" cy="361188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2487168" cy="73152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1901952"/>
            <a:ext cx="438912" cy="438912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9202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A1228"/>
                </a:solidFill>
                <a:latin typeface="Aptos"/>
              </a:rPr>
              <a:t>IMMEDIATE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79192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60604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Multi-format resume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19272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24612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Robust error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59352"/>
            <a:ext cx="64008" cy="64008"/>
          </a:xfrm>
          <a:prstGeom prst="roundRect">
            <a:avLst/>
          </a:prstGeom>
          <a:solidFill>
            <a:srgbClr val="2A5BFF"/>
          </a:solidFill>
          <a:ln>
            <a:solidFill>
              <a:srgbClr val="2A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8620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Hardened data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1" y="2971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9758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7" y="1600200"/>
            <a:ext cx="2487168" cy="361188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47287" y="1600200"/>
            <a:ext cx="2487168" cy="73152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75887" y="1901952"/>
            <a:ext cx="438912" cy="438912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7" y="199339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19202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A1228"/>
                </a:solidFill>
                <a:latin typeface="Aptos"/>
              </a:rPr>
              <a:t>SHORT TERM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2679192"/>
            <a:ext cx="64008" cy="64008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1" y="260604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Recruiter web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319272"/>
            <a:ext cx="64008" cy="64008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1" y="324612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Role / requirement templates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3959352"/>
            <a:ext cx="64008" cy="64008"/>
          </a:xfrm>
          <a:prstGeom prst="roundRect">
            <a:avLst/>
          </a:prstGeom>
          <a:solidFill>
            <a:srgbClr val="40CDFF"/>
          </a:solidFill>
          <a:ln>
            <a:solidFill>
              <a:srgbClr val="40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1" y="388620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Audit-ready scoring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2971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9758C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1600200"/>
            <a:ext cx="2487168" cy="361188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7" y="1600200"/>
            <a:ext cx="2487168" cy="73152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64807" y="1901952"/>
            <a:ext cx="438912" cy="438912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199339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19202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A1228"/>
                </a:solidFill>
                <a:latin typeface="Aptos"/>
              </a:rPr>
              <a:t>PRODUCTION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2679192"/>
            <a:ext cx="64008" cy="64008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1" y="260604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Scalable API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3319272"/>
            <a:ext cx="64008" cy="64008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1" y="324612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Performance monitoring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959352"/>
            <a:ext cx="64008" cy="64008"/>
          </a:xfrm>
          <a:prstGeom prst="roundRect">
            <a:avLst/>
          </a:prstGeom>
          <a:solidFill>
            <a:srgbClr val="23AF70"/>
          </a:solidFill>
          <a:ln>
            <a:solidFill>
              <a:srgbClr val="23A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1" y="388620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Role-based recruiter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1" y="2971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9758C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1600200"/>
            <a:ext cx="2487168" cy="3611880"/>
          </a:xfrm>
          <a:prstGeom prst="round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25128" y="1600200"/>
            <a:ext cx="2487168" cy="73152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53728" y="1901952"/>
            <a:ext cx="438912" cy="438912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3728" y="199339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F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8088" y="19202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A1228"/>
                </a:solidFill>
                <a:latin typeface="Aptos"/>
              </a:rPr>
              <a:t>LONG TERM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81159" y="2679192"/>
            <a:ext cx="64008" cy="64008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5751" y="260604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AI semantic matching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59" y="3319272"/>
            <a:ext cx="64008" cy="64008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5751" y="324612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ATS / HRMS integrations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81159" y="3959352"/>
            <a:ext cx="64008" cy="64008"/>
          </a:xfrm>
          <a:prstGeom prst="roundRect">
            <a:avLst/>
          </a:prstGeom>
          <a:solidFill>
            <a:srgbClr val="F29D37"/>
          </a:solidFill>
          <a:ln>
            <a:solidFill>
              <a:srgbClr val="F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45751" y="388620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32D41"/>
                </a:solidFill>
                <a:latin typeface="Aptos"/>
              </a:rPr>
              <a:t>Culture &amp; experience signals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04688"/>
            <a:ext cx="10899648" cy="658368"/>
          </a:xfrm>
          <a:prstGeom prst="roundRect">
            <a:avLst/>
          </a:prstGeom>
          <a:solidFill>
            <a:srgbClr val="0A1228"/>
          </a:solidFill>
          <a:ln>
            <a:solidFill>
              <a:srgbClr val="0A1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" y="5687568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0CDFF"/>
                </a:solidFill>
                <a:latin typeface="Aptos"/>
              </a:rPr>
              <a:t>VISION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40" y="5577840"/>
            <a:ext cx="9372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F8FAFF"/>
                </a:solidFill>
                <a:latin typeface="Aptos"/>
              </a:rPr>
              <a:t>Start with skill matching. Grow into a scalable, explainable hiring intelligence layer that plugs into the enterprise HR ecosystem.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758C"/>
                </a:solidFill>
                <a:latin typeface="Aptos"/>
              </a:rPr>
              <a:t>SMART HIRING MATCH  •  CTO / PRODUCT OVERVIEW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4008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CDFF"/>
                </a:solidFill>
                <a:latin typeface="Aptos"/>
              </a:rPr>
              <a:t>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0"/>
            <a:ext cx="70408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F"/>
                </a:solidFill>
                <a:latin typeface="Aptos"/>
              </a:rPr>
              <a:t>Less screening effort.
Better hiring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34640"/>
            <a:ext cx="6903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CCCEB"/>
                </a:solidFill>
                <a:latin typeface="Aptos"/>
              </a:rPr>
              <a:t>Smart Hiring Match turns a high-volume, subjective first-pass process into a structured decision-support workflow — fast enough to scale, transparent enough to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960120"/>
            <a:ext cx="3063240" cy="4526280"/>
          </a:xfrm>
          <a:prstGeom prst="roundRect">
            <a:avLst/>
          </a:prstGeom>
          <a:solidFill>
            <a:srgbClr val="112144"/>
          </a:solidFill>
          <a:ln>
            <a:solidFill>
              <a:srgbClr val="112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298448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F"/>
                </a:solidFill>
                <a:latin typeface="Aptos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74519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CDFF"/>
                </a:solidFill>
                <a:latin typeface="Aptos"/>
              </a:rPr>
              <a:t>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74519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0CCE5"/>
                </a:solidFill>
                <a:latin typeface="Aptos"/>
              </a:rPr>
              <a:t>Reduce repetitive screening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660903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5BFF"/>
                </a:solidFill>
                <a:latin typeface="Aptos"/>
              </a:rPr>
              <a:t>CONSISTENT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660903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0CCE5"/>
                </a:solidFill>
                <a:latin typeface="Aptos"/>
              </a:rPr>
              <a:t>Apply the same scoring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447287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AF70"/>
                </a:solidFill>
                <a:latin typeface="Aptos"/>
              </a:rPr>
              <a:t>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447287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0CCE5"/>
                </a:solidFill>
                <a:latin typeface="Aptos"/>
              </a:rPr>
              <a:t>Expose skills, gaps and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23367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9D37"/>
                </a:solidFill>
                <a:latin typeface="Aptos"/>
              </a:rPr>
              <a:t>SCALABLE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233672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0CCE5"/>
                </a:solidFill>
                <a:latin typeface="Aptos"/>
              </a:rPr>
              <a:t>Build toward ATS-ready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23036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CDFF"/>
                </a:solidFill>
                <a:latin typeface="Aptos"/>
              </a:rPr>
              <a:t>Next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166360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8FAFF"/>
                </a:solidFill>
                <a:latin typeface="Aptos"/>
              </a:rPr>
              <a:t>Validate with real recruiter workflows and representative resume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08076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297C1"/>
                </a:solidFill>
                <a:latin typeface="Aptos"/>
              </a:rPr>
              <a:t>SMART HIRING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0807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8297C1"/>
                </a:solidFill>
                <a:latin typeface="Aptos"/>
              </a:rPr>
              <a:t>CTO / PRODUCT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9758C"/>
                </a:solidFill>
                <a:latin typeface="Aptos"/>
              </a:rPr>
              <a:t>SMART HIRING MATCH  •  CTO / PRODUCT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